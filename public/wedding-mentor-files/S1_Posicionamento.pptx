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7432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Posicionamento e a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Matemática dos 100K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número a atingir, o casal ideal a servir e a frase que te separa de todos os outros.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0" y="393192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100K</a:t>
            </a:r>
            <a:endParaRPr lang="en-US" sz="15000" dirty="0"/>
          </a:p>
        </p:txBody>
      </p:sp>
      <p:sp>
        <p:nvSpPr>
          <p:cNvPr id="9" name="Shape 7"/>
          <p:cNvSpPr/>
          <p:nvPr/>
        </p:nvSpPr>
        <p:spPr>
          <a:xfrm>
            <a:off x="658368" y="598932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RESOLVEMOS HOJE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da estratégia, a clareza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66544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21394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514600" y="202082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matemática dos 100K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514600" y="23774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meta num número concreto de casamentos × ticket médio.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163824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81" y="3311225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97180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514600" y="311810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vs. Preço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514600" y="3474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conscientemente o caminho, e perceber porque o preço quase sempre vence.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06908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261104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408505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0690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2514600" y="421538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casal ideal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514600" y="4572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exatamente para quem trabalhas, para tudo o resto ficar fácil.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5358384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1" y="5505785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16636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2514600" y="531266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de posicionamento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2514600" y="5669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frase que te faz competir por significado, não por preço.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Matemática dos 100K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4892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100.000€ não é um sonho. É uma equação com duas variáveis.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AO CONTRÁRIO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Tudo começa por uma equação simples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13283F"/>
          </a:solidFill>
          <a:ln w="9525">
            <a:solidFill>
              <a:srgbClr val="4A9E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Nº de casamentos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fazes por ano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233172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13283F"/>
          </a:solidFill>
          <a:ln w="9525">
            <a:solidFill>
              <a:srgbClr val="4A9EFF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Ticket médio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92040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cobras a cada casal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95360" y="2331720"/>
            <a:ext cx="3017520" cy="2103120"/>
          </a:xfrm>
          <a:prstGeom prst="roundRect">
            <a:avLst>
              <a:gd name="adj" fmla="val 4348"/>
            </a:avLst>
          </a:prstGeom>
          <a:solidFill>
            <a:srgbClr val="102844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100.000€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778240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tua meta anual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331720"/>
            <a:ext cx="868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726680" y="2331720"/>
            <a:ext cx="868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desta sessão não é encher a agenda às cegas, é escolher, com intenção, em que ponto desta equação queres viver. Cada combinação implica um estilo de vida diferente.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CAMINHOS, O MESMO DESTINO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Há mais do que uma forma de chegar lá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15184" cy="338328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 w="12700">
            <a:solidFill>
              <a:srgbClr val="9FB2C9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FB2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3101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casamentos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 3.000€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05840" y="4224528"/>
            <a:ext cx="1700784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3159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68172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cheia, muita edição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74136" y="1874520"/>
            <a:ext cx="2615184" cy="338328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 w="12700">
            <a:solidFill>
              <a:srgbClr val="4A9E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74136" y="20574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74136" y="233172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3374136" y="33101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casamentos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74136" y="36576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 4.000€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831336" y="4224528"/>
            <a:ext cx="1700784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11296" y="43159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11296" y="468172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 comum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99632" y="1874520"/>
            <a:ext cx="2615184" cy="338328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 w="12700">
            <a:solidFill>
              <a:srgbClr val="4A9EF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9632" y="20574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233172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6199632" y="33101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casamentos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9632" y="36576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 5.000€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656832" y="4224528"/>
            <a:ext cx="1700784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43159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leve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36792" y="468172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casais, mais margem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25128" y="1874520"/>
            <a:ext cx="2615184" cy="338328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 w="12700">
            <a:solidFill>
              <a:srgbClr val="C9A961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025128" y="20574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25128" y="233172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6400" dirty="0"/>
          </a:p>
        </p:txBody>
      </p:sp>
      <p:sp>
        <p:nvSpPr>
          <p:cNvPr id="31" name="Text 29"/>
          <p:cNvSpPr/>
          <p:nvPr/>
        </p:nvSpPr>
        <p:spPr>
          <a:xfrm>
            <a:off x="9025128" y="331012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casamentos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25128" y="36576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× 7.000€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482328" y="4224528"/>
            <a:ext cx="1700784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62288" y="43159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puro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62288" y="4681728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casais, ticket alto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somam ~100.000€. A diferença não está no total, está no tempo, na energia e no risco de te queimares.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INVISÍVEL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total é igual. O preço pessoal não.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768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2425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84832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Tempo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663440" y="20574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casamento extra são ~30h de trabalho entre dia, edição e gestão. 33 casamentos podem significar quase todos os fins de semana ocupados.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7398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1" y="388729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547872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Energia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desgasta. Mais clientes, mais comunicação, mais margem para erro, e menos tempo para a qualidade que justifica o preço.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2029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53503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5010912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Posicionamento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4663440" y="49834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casamentos bem pagos exige uma marca mais forte. É mais difícil de construir, mas protege-te e liberta a tua vida.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GRANDE DECISÃO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Volume ou Preço?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30952" cy="4206240"/>
          </a:xfrm>
          <a:prstGeom prst="roundRect">
            <a:avLst>
              <a:gd name="adj" fmla="val 2174"/>
            </a:avLst>
          </a:prstGeom>
          <a:solidFill>
            <a:srgbClr val="13283F"/>
          </a:solidFill>
          <a:ln w="9525">
            <a:solidFill>
              <a:srgbClr val="9FB2C9">
                <a:alpha val="55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B2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caminho do VOLUME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4599432" cy="0"/>
          </a:xfrm>
          <a:prstGeom prst="line">
            <a:avLst/>
          </a:prstGeom>
          <a:noFill/>
          <a:ln w="9525">
            <a:solidFill>
              <a:srgbClr val="9FB2C9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880360"/>
            <a:ext cx="45537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casamentos, ticket mais baixo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Cresces enchendo a agenda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duro: só há 52 fins de semana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edição, mais gestão, mais desgaste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erro pequena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30952" cy="4206240"/>
          </a:xfrm>
          <a:prstGeom prst="roundRect">
            <a:avLst>
              <a:gd name="adj" fmla="val 2174"/>
            </a:avLst>
          </a:prstGeom>
          <a:solidFill>
            <a:srgbClr val="102844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103120"/>
            <a:ext cx="4599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caminho do PREÇO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675120" y="2697480"/>
            <a:ext cx="4599432" cy="0"/>
          </a:xfrm>
          <a:prstGeom prst="line">
            <a:avLst/>
          </a:prstGeom>
          <a:noFill/>
          <a:ln w="9525">
            <a:solidFill>
              <a:srgbClr val="C9A96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880360"/>
            <a:ext cx="45537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casamentos, ticket mais alto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Cresces subindo o valor percebido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alto: o teto é o posicionamento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tempo por casal, mais qualidade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confortável e vida com folga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MATEMÁTICA DO ESFORÇO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Porque o preço quase sempre vence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+1.000€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médio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 mais do que vários casamentos extra, sem mais um único fim de semana ocupado.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25696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52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562856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 de semana/ano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74336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4023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teto físico do volume. O preço não tem esse teto.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02752" y="1965960"/>
            <a:ext cx="3337560" cy="365760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1×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439912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de subir o preço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51392" y="3886200"/>
            <a:ext cx="2240280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402336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multiplicar captação, reuniões, edição e gestão para o mesmo resultado.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dos 100K sustentáveis passa quase sempre por menos casamentos, melhor pagos.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caso do João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3283F"/>
          </a:solidFill>
          <a:ln w="9525">
            <a:solidFill>
              <a:srgbClr val="9FB2C9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casamentos por ano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médio: 2.500€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Faturação: 75.000€</a:t>
            </a:r>
            <a:endParaRPr lang="en-US" sz="17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Quase todos os fins de semana ocupados, edição sempre atrasada, sem tempo para a família.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30952" cy="4114800"/>
          </a:xfrm>
          <a:prstGeom prst="roundRect">
            <a:avLst>
              <a:gd name="adj" fmla="val 2222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casamentos por ano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médio: 5.000€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Faturação: 100.000€</a:t>
            </a:r>
            <a:endParaRPr lang="en-US" sz="17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10 casamentos, mais 25.000€. Posicionou-se como premium, melhorou a experiência e subiu o preço com confiança.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Posicionamento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4892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 preço sem posicionamento é só esperar que digam não. Vamos construir o que o sustenta.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DE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 posicionamento para todos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é um posicionamento para ninguém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330952" cy="3108960"/>
          </a:xfrm>
          <a:prstGeom prst="roundRect">
            <a:avLst>
              <a:gd name="adj" fmla="val 2941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926080"/>
            <a:ext cx="640080" cy="64008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92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FB2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“Fotografo casamentos”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Genérico. Compete só por preço e disponibilidade. O casal não vê diferença entre ti e mais 50 fotógrafos da zona.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2606040"/>
            <a:ext cx="5330952" cy="3108960"/>
          </a:xfrm>
          <a:prstGeom prst="roundRect">
            <a:avLst>
              <a:gd name="adj" fmla="val 2941"/>
            </a:avLst>
          </a:prstGeom>
          <a:solidFill>
            <a:srgbClr val="16314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926080"/>
            <a:ext cx="640080" cy="640080"/>
          </a:xfrm>
          <a:prstGeom prst="ellipse">
            <a:avLst/>
          </a:prstGeom>
          <a:solidFill>
            <a:srgbClr val="1028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30925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703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“Capturo casamentos</a:t>
            </a:r>
            <a:endParaRPr lang="en-US" sz="2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autênticos e sem poses”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629400" y="45262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Específico. Atrai um casal concreto que se revê nisto, e paga mais por encontrar exatamente o que procura.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ALICERCE DE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Definir o casal ideal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nítido o retrato, mais fácil fica tudo o resto: o conteúdo, a proposta, a reunião e o preço.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30952" cy="1737360"/>
          </a:xfrm>
          <a:prstGeom prst="roundRect">
            <a:avLst>
              <a:gd name="adj" fmla="val 526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597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60713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7744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Quem são?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45920" y="2862072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fase de vida, profissão, onde vivem, como gastam.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2148840"/>
            <a:ext cx="5330952" cy="1737360"/>
          </a:xfrm>
          <a:prstGeom prst="roundRect">
            <a:avLst>
              <a:gd name="adj" fmla="val 526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45973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801" y="260713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37744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valorizam?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406640" y="2862072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Emoção, estética, discrição, festa, memória, exclusividade.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330952" cy="1737360"/>
          </a:xfrm>
          <a:prstGeom prst="roundRect">
            <a:avLst>
              <a:gd name="adj" fmla="val 526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3799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527377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2976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os assusta?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645920" y="4782312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Fotógrafo intrusivo, dia caótico, arrependimento, mau gosto.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309360" y="4069080"/>
            <a:ext cx="5330952" cy="1737360"/>
          </a:xfrm>
          <a:prstGeom prst="roundRect">
            <a:avLst>
              <a:gd name="adj" fmla="val 526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29400" y="43799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801" y="4527377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297680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procuram em ti?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7406640" y="4782312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transformação e o sentimento que só tu lhes garantes.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CASAL IDEAL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Sofia &amp; o Miguel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1005840" cy="10058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358" y="25932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SÃO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31720" y="258775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Casal urbano, 30–35 anos, carreiras estáveis, gosto cuidado. Casam numa quinta no campo, ~80 convidados.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4088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40880" y="258775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Autenticidade acima de poses. Querem reviver a emoção, não uma sessão de fotos forçada. Apreciam design e detalhe.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331720" y="4114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RECEIAM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31720" y="446227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fotógrafo invasivo que estrague o ambiente, fotos artificiais e um dia desorganizado e stressante.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0" y="4114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PROCURAM EM TI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0880" y="446227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discreta, olhar de autor e a garantia de voltar a sentir aquele dia daqui a 20 anos.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ANATOMIA DE UM POSICIONAMENTO FORTE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Três elementos, uma só identidade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33172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91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 QUEM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1148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casal específico que serves. Não 'noivos', um casal concreto com nome, gostos e medos.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25696" y="196596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2996" y="233172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966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TENS DE DIFERENTE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45736" y="41148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teu olhar, estilo ou método que ninguém copia. A razão para te escolherem a ti.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02752" y="1965960"/>
            <a:ext cx="3337560" cy="3840480"/>
          </a:xfrm>
          <a:prstGeom prst="roundRect">
            <a:avLst>
              <a:gd name="adj" fmla="val 274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60052" y="233172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022" y="25456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31352" y="33375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 TRANSFORMAÇÃO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22792" y="41148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sentimento ou resultado que garantes. Não o serviço, a memória que ele protege.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FRASE DE POSICIONAMENTO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fórmula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102844"/>
          </a:solidFill>
          <a:ln w="15240">
            <a:solidFill>
              <a:srgbClr val="4A9EFF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FB2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Ajudo </a:t>
            </a:r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[casal ideal]</a:t>
            </a:r>
            <a:pPr indent="0" marL="0">
              <a:buNone/>
            </a:pPr>
            <a:r>
              <a:rPr lang="en-US" sz="2600" dirty="0">
                <a:solidFill>
                  <a:srgbClr val="9FB2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 </a:t>
            </a:r>
            <a:pPr indent="0" marL="0">
              <a:buNone/>
            </a:pPr>
            <a:r>
              <a:rPr lang="en-US" sz="26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[transformação]</a:t>
            </a:r>
            <a:pPr indent="0" marL="0">
              <a:buNone/>
            </a:pPr>
            <a:r>
              <a:rPr lang="en-US" sz="2600" dirty="0">
                <a:solidFill>
                  <a:srgbClr val="9FB2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através de </a:t>
            </a:r>
            <a:pPr indent="0" marL="0">
              <a:buNone/>
            </a:pPr>
            <a:r>
              <a:rPr lang="en-US" sz="2600" b="1" dirty="0">
                <a:solidFill>
                  <a:srgbClr val="4A9E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[o teu diferencial]</a:t>
            </a:r>
            <a:pPr indent="0" marL="0">
              <a:buNone/>
            </a:pPr>
            <a:r>
              <a:rPr lang="en-US" sz="2600" dirty="0">
                <a:solidFill>
                  <a:srgbClr val="9FB2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exemplo aplicado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4526280"/>
            <a:ext cx="640080" cy="64008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6927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4343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“Ajudo casais que valorizam autenticidade a reviver o seu dia tal como o sentiram, através de uma fotografia documental e sem poses.”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 A DIFERENÇA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Genérico vs. Posicionado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30952" cy="1234440"/>
          </a:xfrm>
          <a:prstGeom prst="roundRect">
            <a:avLst>
              <a:gd name="adj" fmla="val 7407"/>
            </a:avLst>
          </a:prstGeom>
          <a:solidFill>
            <a:srgbClr val="13283F"/>
          </a:solidFill>
          <a:ln w="9525">
            <a:solidFill>
              <a:srgbClr val="5C708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Fotógrafo de casamentos profissional.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331720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874520"/>
            <a:ext cx="5330952" cy="1234440"/>
          </a:xfrm>
          <a:prstGeom prst="roundRect">
            <a:avLst>
              <a:gd name="adj" fmla="val 7407"/>
            </a:avLst>
          </a:prstGeom>
          <a:solidFill>
            <a:srgbClr val="16314F"/>
          </a:solidFill>
          <a:ln w="12700">
            <a:solidFill>
              <a:srgbClr val="C9A961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18745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casais que odeiam poses: o vosso dia, real e sem encenações.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264408"/>
            <a:ext cx="5330952" cy="1234440"/>
          </a:xfrm>
          <a:prstGeom prst="roundRect">
            <a:avLst>
              <a:gd name="adj" fmla="val 7407"/>
            </a:avLst>
          </a:prstGeom>
          <a:solidFill>
            <a:srgbClr val="13283F"/>
          </a:solidFill>
          <a:ln w="9525">
            <a:solidFill>
              <a:srgbClr val="5C708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326440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Faço fotografia e vídeo de qualidade.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721608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3264408"/>
            <a:ext cx="5330952" cy="1234440"/>
          </a:xfrm>
          <a:prstGeom prst="roundRect">
            <a:avLst>
              <a:gd name="adj" fmla="val 7407"/>
            </a:avLst>
          </a:prstGeom>
          <a:solidFill>
            <a:srgbClr val="16314F"/>
          </a:solidFill>
          <a:ln w="12700">
            <a:solidFill>
              <a:srgbClr val="C9A961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83680" y="326440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Filmes de casamento com alma de cinema, para quem quer emocionar-se a cada revisão.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4654296"/>
            <a:ext cx="5330952" cy="1234440"/>
          </a:xfrm>
          <a:prstGeom prst="roundRect">
            <a:avLst>
              <a:gd name="adj" fmla="val 7407"/>
            </a:avLst>
          </a:prstGeom>
          <a:solidFill>
            <a:srgbClr val="13283F"/>
          </a:solidFill>
          <a:ln w="9525">
            <a:solidFill>
              <a:srgbClr val="5C708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2960" y="4654296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Cubro o vosso casamento do início ao fim.</a:t>
            </a:r>
            <a:endParaRPr lang="en-US" sz="15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111496"/>
            <a:ext cx="320040" cy="3200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309360" y="4654296"/>
            <a:ext cx="5330952" cy="1234440"/>
          </a:xfrm>
          <a:prstGeom prst="roundRect">
            <a:avLst>
              <a:gd name="adj" fmla="val 7407"/>
            </a:avLst>
          </a:prstGeom>
          <a:solidFill>
            <a:srgbClr val="16314F"/>
          </a:solidFill>
          <a:ln w="12700">
            <a:solidFill>
              <a:srgbClr val="C9A961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583680" y="4654296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Discreto durante o dia, presente para sempre: a memória que os vossos filhos vão querer ver.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TUDO ISTO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posicionamento é o que justifica o preço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260604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722" y="28200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118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Posicionas-te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casal específico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352044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74136" y="228600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70248" y="260604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218" y="282001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57016" y="36118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Atrais o casal certo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3602736" y="411480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revê e te procura a ti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52044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9632" y="228600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95744" y="260604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714" y="2820010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82512" y="36118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Vendes valor</a:t>
            </a:r>
            <a:endParaRPr lang="en-US" sz="1700" dirty="0"/>
          </a:p>
        </p:txBody>
      </p:sp>
      <p:sp>
        <p:nvSpPr>
          <p:cNvPr id="20" name="Text 13"/>
          <p:cNvSpPr/>
          <p:nvPr/>
        </p:nvSpPr>
        <p:spPr>
          <a:xfrm>
            <a:off x="6428232" y="411480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comparas preço com ninguém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096" y="3520440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25128" y="2286000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921240" y="2606040"/>
            <a:ext cx="822960" cy="82296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5210" y="2820010"/>
            <a:ext cx="395021" cy="39502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208008" y="36118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Cobras mais</a:t>
            </a:r>
            <a:endParaRPr lang="en-US" sz="1700" dirty="0"/>
          </a:p>
        </p:txBody>
      </p:sp>
      <p:sp>
        <p:nvSpPr>
          <p:cNvPr id="26" name="Text 17"/>
          <p:cNvSpPr/>
          <p:nvPr/>
        </p:nvSpPr>
        <p:spPr>
          <a:xfrm>
            <a:off x="9253728" y="411480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fechas com confiança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posicionamento, subir o preço é só esperar pelo 'não'. Com ele, o preço passa a fazer sentido.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ESTAS ARMADILHAS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Erros comuns de posicionamento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3372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76272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Copiar a concorrência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599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soas igual a todos, o casal escolhe pelo preço. Copiar é competir no terreno do mais barato.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194560"/>
            <a:ext cx="548640" cy="5486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23372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76272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Querer agradar a toda a gente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99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tentar servir todos os casais, deixas de ser a escolha óbvia para qualquer um deles.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44403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79392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Falar de ti, não do casal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914400" y="4937760"/>
            <a:ext cx="4599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“Tenho 10 anos de experiência” importa menos do que “vais reviver este dia para sempre”.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330952" cy="1828800"/>
          </a:xfrm>
          <a:prstGeom prst="roundRect">
            <a:avLst>
              <a:gd name="adj" fmla="val 5000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97680"/>
            <a:ext cx="548640" cy="548640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44403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79392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Listar serviços, não emoções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675120" y="4937760"/>
            <a:ext cx="4599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Horas, fotos e entregáveis não vendem. A memória e o sentimento que protegem, sim.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4A9E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C9A961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63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59436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Trabalho desta Semana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94360" y="4892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teoria não muda faturação. A implementação, sim. Até à próxima sessão: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DESTA SEMANA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Três tarefas, um objetivo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783080" y="227685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81" y="242425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06040" y="21031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Escolhe a tua linha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606040" y="252374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teu ticket médio-alvo e o número de casamentos/ano que isso implica. Escolhe conscientemente onde queres viver na equação.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333756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1783080" y="369417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81" y="3841577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3520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Retrata o teu casal ideal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606040" y="394106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quem é, o que valoriza, o que o assusta e o que procura em ti. Um parágrafo concreto, não uma generalidade.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77240" y="475488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Shape 14"/>
          <p:cNvSpPr/>
          <p:nvPr/>
        </p:nvSpPr>
        <p:spPr>
          <a:xfrm>
            <a:off x="1783080" y="5111496"/>
            <a:ext cx="566928" cy="566928"/>
          </a:xfrm>
          <a:prstGeom prst="ellipse">
            <a:avLst/>
          </a:prstGeom>
          <a:solidFill>
            <a:srgbClr val="1631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81" y="5258897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06040" y="4937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Escreve a tua frase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606040" y="5358384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fórmula e redige a tua frase de posicionamento numa linha. Vamos testá-la juntos na próxima sessão.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8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ENTREGÁVEL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trazes à próxima sessão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2834640"/>
          </a:xfrm>
          <a:prstGeom prst="roundRect">
            <a:avLst>
              <a:gd name="adj" fmla="val 3226"/>
            </a:avLst>
          </a:prstGeom>
          <a:solidFill>
            <a:srgbClr val="13283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Documento de Posicionamento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626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926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teu número-alvo: ticket médio × nº de casamentos = 100.000€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958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493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retrato escrito do teu casal ideal (quem, valoriza, receia, procura)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9651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993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tua frase de posicionamento em 1 linha, pronta a testar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48640" y="5029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este documento, as próximas sessões assentam no vazio. Com ele, tudo o que se segue, atração, reuniões, propostas, ganha direção.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5C708A">
                <a:alpha val="60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Sessão 1: Posicionamento e a Matemática dos 100K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698480" y="643737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5943600" cy="5943600"/>
          </a:xfrm>
          <a:prstGeom prst="ellipse">
            <a:avLst/>
          </a:prstGeom>
          <a:solidFill>
            <a:srgbClr val="4A9EF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C9A961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2514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Sessão 02: Como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1F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Chegar ao Cliente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posicionamento definido, construímos o motor previsível de leads: conteúdo, parcerias e referências.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5074920"/>
            <a:ext cx="914400" cy="0"/>
          </a:xfrm>
          <a:prstGeom prst="line">
            <a:avLst/>
          </a:prstGeom>
          <a:noFill/>
          <a:ln w="3175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C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· RL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Mentoria · Sessão 1</dc:title>
  <dc:subject>PptxGenJS Presentation</dc:subject>
  <dc:creator>RL</dc:creator>
  <cp:lastModifiedBy>RL</cp:lastModifiedBy>
  <cp:revision>1</cp:revision>
  <dcterms:created xsi:type="dcterms:W3CDTF">2026-06-09T13:17:00Z</dcterms:created>
  <dcterms:modified xsi:type="dcterms:W3CDTF">2026-06-09T13:17:00Z</dcterms:modified>
</cp:coreProperties>
</file>