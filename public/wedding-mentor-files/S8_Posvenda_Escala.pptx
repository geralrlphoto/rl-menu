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645920"/>
            <a:ext cx="5943600" cy="5943600"/>
          </a:xfrm>
          <a:prstGeom prst="ellipse">
            <a:avLst/>
          </a:prstGeom>
          <a:solidFill>
            <a:srgbClr val="4A9EF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C9A961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RL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08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03504" y="2724912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Pós-venda, Escala</a:t>
            </a:r>
            <a:endParaRPr lang="en-US" sz="5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 Sistemas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640080" y="4983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sistemas que tornam os 100k repetíveis ano após ano, não um pico de sorte, um patamar.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949440" y="393192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08</a:t>
            </a:r>
            <a:endParaRPr lang="en-US" sz="12000" dirty="0"/>
          </a:p>
        </p:txBody>
      </p:sp>
      <p:sp>
        <p:nvSpPr>
          <p:cNvPr id="9" name="Shape 7"/>
          <p:cNvSpPr/>
          <p:nvPr/>
        </p:nvSpPr>
        <p:spPr>
          <a:xfrm>
            <a:off x="658368" y="6035040"/>
            <a:ext cx="914400" cy="0"/>
          </a:xfrm>
          <a:prstGeom prst="line">
            <a:avLst/>
          </a:prstGeom>
          <a:noFill/>
          <a:ln w="31750">
            <a:solidFill>
              <a:srgbClr val="C9A961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RESOLVEMOS HOJE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 um casamento a um negócio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2539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17279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2880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2514600" y="195681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Colher no pico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514600" y="230428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Testemunhos e referências no momento de maior abertura.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92608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1226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81" y="3270077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292608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2514600" y="305409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o ticket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2514600" y="340156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Upsells que aumentam o valor por cliente sem mais casamentos.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02336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68680" y="421995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367357"/>
            <a:ext cx="272125" cy="27212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91640" y="402336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5"/>
          <p:cNvSpPr/>
          <p:nvPr/>
        </p:nvSpPr>
        <p:spPr>
          <a:xfrm>
            <a:off x="2514600" y="415137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Reservas antecipadas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2514600" y="449884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Previsibilidade e poder de pricing com a agenda cheia cedo.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48640" y="51206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86868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81" y="5464637"/>
            <a:ext cx="272125" cy="27212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691640" y="5120640"/>
            <a:ext cx="822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2800" dirty="0"/>
          </a:p>
        </p:txBody>
      </p:sp>
      <p:sp>
        <p:nvSpPr>
          <p:cNvPr id="26" name="Text 20"/>
          <p:cNvSpPr/>
          <p:nvPr/>
        </p:nvSpPr>
        <p:spPr>
          <a:xfrm>
            <a:off x="2514600" y="5248656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e métricas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2514600" y="559612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se mede, melhora. O que se automatiza, liberta-te.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Colher no Pico da Emoção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momento após a entrega é o de maior abertura do casal. Aproveita-o.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46304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CASAMENTO, VÁRIOS NEGÓCIOS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77240" cy="77724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22137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i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Um pós-venda intencional transforma cada casamento em vários negócios futuros.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66928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após a entrega, o casal está no auge da gratidão. É aqui que se pedem testemunhos, se pede a referência e se planta a semente de serviços futuros, aniversários, batizados, família.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MOMENTO CERTO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Pedir testemunhos e referências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9971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44711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6654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Pede o testemunho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 após a entrega, no pico da emoção. Em vídeo e por escrito, alimenta a atração e fecha as próximas vendas.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8084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01" y="395587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7530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Pede a referência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direta e facilita: um link, uma galeria, um cartão. Quanto mais fácil, mais recomendam.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546463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08406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Planta o futuro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663440" y="50292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Sessões de aniversário, família, batizados. O cliente de hoje é o cliente recorrente de amanhã.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SOCIAL TRABALHA POR 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testemunho vende sem venderes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+confiança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sozinho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casal a confirmar o valor convence mais que qualquer argumento teu.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5696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pico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562856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momento certo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74336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0016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Capturado no auge da emoção, o testemunho sai genuíno e poderoso.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02752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39912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loop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39912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 a atração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51392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77072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Testemunhos viram conteúdo, que atrai leads, que viram testemunhos.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Subir o Ticket &amp; Escalar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caminho mais eficiente para os 100k é mais valor por cliente, não mais clientes.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VALOR POR CASAL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Upsells que sobem o ticket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36024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Álbuns premium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Objetos de qualidade que o casal quer ter na mão. Alta margem, alto valor percebido.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801" y="236024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Vídeos adicionais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7512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Versões estendidas, teaser para redes, filme dos pais. Extras que o casal adora.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4176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Sessões de aniversário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Pós-casamento, gravidez, família. Mantém a relação viva e recorrente.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801" y="44176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Impressões em parede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67512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Quadros e prints que transformam memória em decoração, e em receita extra.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MATEMÁTICA OUTRA VEZ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Subir o ticket é o caminho mais curto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+1.000€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casal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 casamentos, são +20.000€/ano sem um único fim de semana extra.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5696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562856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casamentos extra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74336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0016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upsells crescem o negócio sem encher mais a agenda nem te queimar.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02752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39912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100k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39912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alcance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51392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77072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médio mais alto é a alavanca que torna a meta confortável.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PREVISIBILIDADE FINANCEIRA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Reservas antecipadas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9971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44711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6654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Vende com antecedência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reservadas com 1–2 anos dão previsibilidade e tranquilidade ao negócio.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8084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01" y="395587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7530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prova de que funciona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 2027 esgotado. É a confirmação de que o posicionamento e a procura estão lá.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546463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08406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Poder de pricing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663440" y="50292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cheia cedo permite subir preços com confiança, e escolher os casais certos.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46304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EFEITO DA AGENDA CHEIA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77240" cy="77724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22137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800" b="1" i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Quando a procura existe, o preço deixa de ser uma desculpa para ser uma decisão.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566928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agenda preenchida com antecedência muda a tua posição: já não precisas de cada casamento, e isso dá-te a liberdade de subir o preço e trabalhar só com quem se alinha contigo.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 Sistemas dos 100K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se mede não se melhora. O que não se sistematiza, não escala.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46304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20624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QUE SUSTENTA TUDO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777240" cy="77724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722" y="2213762"/>
            <a:ext cx="373075" cy="37307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926080"/>
            <a:ext cx="10972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i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que não se mede, não se melhora.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66928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números, decides às escuras. Acompanhar as métricas certas mostra-te exatamente onde está o próximo euro, e o que muda os 100k de objetivo distante para patamar atingível.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O QUE IMPORTA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 4 métricas-chave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36024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Leads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Quantos pedidos chegam e de onde. Mostra que pilar do motor está a funcionar.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801" y="236024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Taxa de fecho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7512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reuniões viram venda. Revela a saúde da tua reunião e proposta.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4176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Ticket médio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cada casal vale em média. A alavanca mais direta para os 100k.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801" y="44176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Origem dos clientes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67512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onde vêm os que fecham. Diz-te onde investir mais tempo e energia.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LIBERTAR O TEU TEMPO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Automatizar o repetível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9971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01" y="2447117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206654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Respostas e templates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4663440" y="201168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de resposta, follow-up e onboarding prontas. Rápido e consistente sempre.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342900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8084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01" y="3955877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783080" y="357530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Lembretes e cronogramas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avisos liberta-te da gestão manual e nada cai no esquecimento.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48640" y="4937760"/>
            <a:ext cx="11091672" cy="1325880"/>
          </a:xfrm>
          <a:prstGeom prst="roundRect">
            <a:avLst>
              <a:gd name="adj" fmla="val 68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31723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801" y="5464637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83080" y="5084064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Contratos e portal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4663440" y="5029200"/>
            <a:ext cx="6675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Sistematizar contrato, sinal e portal tira-te do trabalho administrativo repetitivo.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DESTINO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 100k como patamar, não pico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sistema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85800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sorte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97280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cada peça funciona, os 100k deixam de depender de um bom ano.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25696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62856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repetível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4562856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após ano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74336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0016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construíste em 8 semanas é uma máquina, não um golpe de sorte.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02752" y="1965960"/>
            <a:ext cx="3337560" cy="3657600"/>
          </a:xfrm>
          <a:prstGeom prst="roundRect">
            <a:avLst>
              <a:gd name="adj" fmla="val 2740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439912" y="228600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A9E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liberdade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439912" y="340156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verdadeiro prémio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851392" y="3886200"/>
            <a:ext cx="2240280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77072" y="4023360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margem, mais tempo, mais escolha. O negócio ao serviço da tua vida.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TUDO SE JUNTA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0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 jornada completa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0012" y="23317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46124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0093" y="28657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2892" y="365760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Posiciona &amp; atrai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78612" y="42062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Sessões 1–2: o número, o casal, o motor de leads.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332" y="3017520"/>
            <a:ext cx="274320" cy="274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75508" y="23317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271620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5589" y="2865730"/>
            <a:ext cx="395021" cy="39502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558388" y="365760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Capta &amp; fecha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3604108" y="42062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Sessões 3–5: qualificação, reunião e proposta premium.</a:t>
            </a:r>
            <a:endParaRPr lang="en-US" sz="12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5828" y="3017520"/>
            <a:ext cx="274320" cy="2743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01004" y="23317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7097116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1085" y="2865730"/>
            <a:ext cx="395021" cy="395021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383884" y="365760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Encanta &amp; entrega</a:t>
            </a:r>
            <a:endParaRPr lang="en-US" sz="1700" dirty="0"/>
          </a:p>
        </p:txBody>
      </p:sp>
      <p:sp>
        <p:nvSpPr>
          <p:cNvPr id="20" name="Text 13"/>
          <p:cNvSpPr/>
          <p:nvPr/>
        </p:nvSpPr>
        <p:spPr>
          <a:xfrm>
            <a:off x="6429604" y="42062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Sessões 6–7: experiência, portal e entrega memorável.</a:t>
            </a:r>
            <a:endParaRPr lang="en-US" sz="125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1324" y="3017520"/>
            <a:ext cx="274320" cy="2743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026500" y="2331720"/>
            <a:ext cx="2615184" cy="2743200"/>
          </a:xfrm>
          <a:prstGeom prst="roundRect">
            <a:avLst>
              <a:gd name="adj" fmla="val 3497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9922612" y="2651760"/>
            <a:ext cx="822960" cy="822960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6581" y="2865730"/>
            <a:ext cx="395021" cy="395021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209380" y="365760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Escala &amp; repete</a:t>
            </a:r>
            <a:endParaRPr lang="en-US" sz="1700" dirty="0"/>
          </a:p>
        </p:txBody>
      </p:sp>
      <p:sp>
        <p:nvSpPr>
          <p:cNvPr id="26" name="Text 17"/>
          <p:cNvSpPr/>
          <p:nvPr/>
        </p:nvSpPr>
        <p:spPr>
          <a:xfrm>
            <a:off x="9255100" y="4206240"/>
            <a:ext cx="2157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8: pós-venda, upsells e sistemas dos 100k.</a:t>
            </a:r>
            <a:endParaRPr lang="en-US" sz="1250" dirty="0"/>
          </a:p>
        </p:txBody>
      </p:sp>
      <p:sp>
        <p:nvSpPr>
          <p:cNvPr id="27" name="Text 18"/>
          <p:cNvSpPr/>
          <p:nvPr/>
        </p:nvSpPr>
        <p:spPr>
          <a:xfrm>
            <a:off x="548640" y="54406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Oito sessões, um sistema completo, do primeiro toque à recomendação final.</a:t>
            </a:r>
            <a:endParaRPr lang="en-US" sz="1500" dirty="0"/>
          </a:p>
        </p:txBody>
      </p:sp>
      <p:sp>
        <p:nvSpPr>
          <p:cNvPr id="28" name="Shape 19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9" name="Text 20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30" name="Text 21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FECHAR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Erros que travam a escala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2360249"/>
            <a:ext cx="272125" cy="2721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Não pedir testemunhos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1440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Desperdiçar o pico emocional é perder o canal de venda mais forte que tens.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09360" y="19202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29400" y="22128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6801" y="2360249"/>
            <a:ext cx="272125" cy="27212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06640" y="21579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Esquecer os upsells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6675120" y="28346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extras, deixas na mesa o caminho mais fácil para subir o ticket.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868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081" y="4417649"/>
            <a:ext cx="272125" cy="27212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64592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Não medir nada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91440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métricas, não sabes o que melhorar, cresces às cegas ou estagnas.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309360" y="3977640"/>
            <a:ext cx="5330952" cy="1874520"/>
          </a:xfrm>
          <a:prstGeom prst="roundRect">
            <a:avLst>
              <a:gd name="adj" fmla="val 4878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29400" y="4270248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6801" y="4417649"/>
            <a:ext cx="272125" cy="27212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06640" y="4215384"/>
            <a:ext cx="40507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Não automatizar</a:t>
            </a:r>
            <a:endParaRPr lang="en-US" sz="1800" dirty="0"/>
          </a:p>
        </p:txBody>
      </p:sp>
      <p:sp>
        <p:nvSpPr>
          <p:cNvPr id="23" name="Text 17"/>
          <p:cNvSpPr/>
          <p:nvPr/>
        </p:nvSpPr>
        <p:spPr>
          <a:xfrm>
            <a:off x="6675120" y="4892040"/>
            <a:ext cx="4599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tudo à mão é o teto que te prende a trabalhar em vez de crescer.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371600"/>
            <a:ext cx="5486400" cy="5486400"/>
          </a:xfrm>
          <a:prstGeom prst="ellipse">
            <a:avLst/>
          </a:prstGeom>
          <a:solidFill>
            <a:srgbClr val="4A9E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C9A961">
              <a:alpha val="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9144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16314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</a:t>
            </a:r>
            <a:endParaRPr lang="en-US" sz="15000" dirty="0"/>
          </a:p>
        </p:txBody>
      </p:sp>
      <p:sp>
        <p:nvSpPr>
          <p:cNvPr id="5" name="Text 3"/>
          <p:cNvSpPr/>
          <p:nvPr/>
        </p:nvSpPr>
        <p:spPr>
          <a:xfrm>
            <a:off x="594360" y="3063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 À OBRA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789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Trabalho desta Semana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94360" y="49834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 os sistemas que tornam os 100k repetíveis.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DESTA SEMANA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Três peças, 100k repetíveis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92024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1783080" y="227685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0481" y="2424257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06040" y="21031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Processo de pós-venda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2606040" y="2523744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como e quando pedes testemunho e referência após cada entrega.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333756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77240" y="333756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1783080" y="369417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0481" y="3841577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06040" y="352044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Desenha 2 upsells</a:t>
            </a:r>
            <a:endParaRPr lang="en-US" sz="1900" dirty="0"/>
          </a:p>
        </p:txBody>
      </p:sp>
      <p:sp>
        <p:nvSpPr>
          <p:cNvPr id="15" name="Text 11"/>
          <p:cNvSpPr/>
          <p:nvPr/>
        </p:nvSpPr>
        <p:spPr>
          <a:xfrm>
            <a:off x="2606040" y="3941064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extras concretos para subir o teu ticket médio já no próximo casamento.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4754880"/>
            <a:ext cx="11091672" cy="1280160"/>
          </a:xfrm>
          <a:prstGeom prst="roundRect">
            <a:avLst>
              <a:gd name="adj" fmla="val 7143"/>
            </a:avLst>
          </a:prstGeom>
          <a:solidFill>
            <a:srgbClr val="13283F"/>
          </a:solidFill>
          <a:ln/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77240" y="4754880"/>
            <a:ext cx="868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3600" dirty="0"/>
          </a:p>
        </p:txBody>
      </p:sp>
      <p:sp>
        <p:nvSpPr>
          <p:cNvPr id="18" name="Shape 14"/>
          <p:cNvSpPr/>
          <p:nvPr/>
        </p:nvSpPr>
        <p:spPr>
          <a:xfrm>
            <a:off x="1783080" y="5111496"/>
            <a:ext cx="566928" cy="566928"/>
          </a:xfrm>
          <a:prstGeom prst="ellipse">
            <a:avLst/>
          </a:prstGeom>
          <a:solidFill>
            <a:srgbClr val="16314F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0481" y="5258897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2606040" y="49377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Monta o teu dashboard</a:t>
            </a:r>
            <a:endParaRPr lang="en-US" sz="1900" dirty="0"/>
          </a:p>
        </p:txBody>
      </p:sp>
      <p:sp>
        <p:nvSpPr>
          <p:cNvPr id="21" name="Text 16"/>
          <p:cNvSpPr/>
          <p:nvPr/>
        </p:nvSpPr>
        <p:spPr>
          <a:xfrm>
            <a:off x="2606040" y="5358384"/>
            <a:ext cx="8778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4 métricas-chave, leads, fecho, ticket médio, origem, num só lugar.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028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ENTREGÁVEL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entregável final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1672" cy="2834640"/>
          </a:xfrm>
          <a:prstGeom prst="roundRect">
            <a:avLst>
              <a:gd name="adj" fmla="val 3226"/>
            </a:avLst>
          </a:prstGeom>
          <a:solidFill>
            <a:srgbClr val="13283F"/>
          </a:solidFill>
          <a:ln w="19050">
            <a:solidFill>
              <a:srgbClr val="C9A961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94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9A96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 Sistema dos 100K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962656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2926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 de pós-venda: testemunhos e referências</a:t>
            </a:r>
            <a:endParaRPr lang="en-US" sz="15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529584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3493008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2 upsells para subir o ticket médio</a:t>
            </a:r>
            <a:endParaRPr lang="en-US" sz="155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9651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63040" y="4059936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EA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com as 4 métricas-chave do negócio</a:t>
            </a:r>
            <a:endParaRPr lang="en-US" sz="1550" dirty="0"/>
          </a:p>
        </p:txBody>
      </p:sp>
      <p:sp>
        <p:nvSpPr>
          <p:cNvPr id="12" name="Text 7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saíste com apontamentos. Saíste com um sistema, do primeiro toque à recomendação, pronto a faturar.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548640" y="6419088"/>
            <a:ext cx="11091672" cy="0"/>
          </a:xfrm>
          <a:prstGeom prst="line">
            <a:avLst/>
          </a:prstGeom>
          <a:noFill/>
          <a:ln w="9525">
            <a:solidFill>
              <a:srgbClr val="5C708A">
                <a:alpha val="60000"/>
              </a:srgbClr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48640" y="6437376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Sessão 8: Pós-venda, Escala e Sistemas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0698480" y="6437376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D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1645920"/>
            <a:ext cx="5943600" cy="5943600"/>
          </a:xfrm>
          <a:prstGeom prst="ellipse">
            <a:avLst/>
          </a:prstGeom>
          <a:solidFill>
            <a:srgbClr val="4A9EF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389120"/>
            <a:ext cx="5029200" cy="5029200"/>
          </a:xfrm>
          <a:prstGeom prst="ellipse">
            <a:avLst/>
          </a:prstGeom>
          <a:solidFill>
            <a:srgbClr val="C9A961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FIM DO PROGRAMA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03504" y="251460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Já não tens apontamentos.</a:t>
            </a:r>
            <a:endParaRPr lang="en-US" sz="4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EAF1F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Tens um sistema a faturar.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640080" y="4251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Posicionamento, motor de leads, reuniões que fecham, propostas premium, experiência memorável e escala. Os 100k como patamar.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58368" y="5120640"/>
            <a:ext cx="914400" cy="0"/>
          </a:xfrm>
          <a:prstGeom prst="line">
            <a:avLst/>
          </a:prstGeom>
          <a:noFill/>
          <a:ln w="31750">
            <a:solidFill>
              <a:srgbClr val="C9A9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5C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MENTORIA · RL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Mentoria · S8_Posvenda_Escala</dc:title>
  <dc:subject>PptxGenJS Presentation</dc:subject>
  <dc:creator>RL</dc:creator>
  <cp:lastModifiedBy>RL</cp:lastModifiedBy>
  <cp:revision>1</cp:revision>
  <dcterms:created xsi:type="dcterms:W3CDTF">2026-06-09T13:17:00Z</dcterms:created>
  <dcterms:modified xsi:type="dcterms:W3CDTF">2026-06-09T13:17:00Z</dcterms:modified>
</cp:coreProperties>
</file>